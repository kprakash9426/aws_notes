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16202B"/>
          </a:solidFill>
          <a:ln/>
        </p:spPr>
      </p:sp>
      <p:sp>
        <p:nvSpPr>
          <p:cNvPr id="4" name="Shape 2"/>
          <p:cNvSpPr/>
          <p:nvPr/>
        </p:nvSpPr>
        <p:spPr>
          <a:xfrm>
            <a:off x="8915400" y="2331720"/>
            <a:ext cx="2194560" cy="219456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5" name="Image 0" descr="/home/claude/aws_deck/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2094" y="2858414"/>
            <a:ext cx="1141171" cy="114117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1965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DEMO PRESENTATION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331720"/>
            <a:ext cx="7040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Computing,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EC2 &amp; S3 Basics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3434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zero-to-basics guide to how the cloud works, the AWS service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and the global infrastructure behind them — built for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with no prior cloud background.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" y="5623560"/>
            <a:ext cx="1280160" cy="0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806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DEMO SESSION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Cloud Computing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on-demand delivery of IT resources and applications over the Internet with a pay-as-you-go pricing model. Instead of buying and maintaining physical data centers and servers, companies and individuals can access technology services on an as-needed basis.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349240" cy="3200400"/>
          </a:xfrm>
          <a:prstGeom prst="roundRect">
            <a:avLst>
              <a:gd name="adj" fmla="val 3429"/>
            </a:avLst>
          </a:prstGeom>
          <a:solidFill>
            <a:srgbClr val="232F3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3246120"/>
            <a:ext cx="777240" cy="77724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8" name="Image 0" descr="/home/claude/aws_deck/icons/inst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3432658"/>
            <a:ext cx="404165" cy="40416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828800" y="3291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&amp; Social Media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16052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upload photos or videos, they are stored globally on cloud servers. Even if you reinstall the app or log in from a new device, your data is instantly accessible.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172200" y="2926080"/>
            <a:ext cx="53492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4E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0" y="3246120"/>
            <a:ext cx="777240" cy="77724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13" name="Image 1" descr="/home/claude/aws_deck/icons/tax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778" y="3432658"/>
            <a:ext cx="404165" cy="40416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52360" y="3291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Rental Cars vs. Owning a Car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492240" y="416052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a car means heavy upfront cost, insurance, taxes, and maintenance — like running your own on-premises server 24/7. Cloud computing is like a rental car (Uber/Ola): you only pay for the resources you actually use.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Fundamentals — Cloud Computing, EC2 &amp; S3 Basics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 of Cloud Computing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evolved over decades to solve infrastructure bottlenecks: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51560" y="2834640"/>
            <a:ext cx="850392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1005840" cy="100584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7" name="Image 0" descr="/home/claude/aws_deck/icons/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2573122"/>
            <a:ext cx="523037" cy="52303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261872" y="2240280"/>
            <a:ext cx="384048" cy="384048"/>
          </a:xfrm>
          <a:prstGeom prst="ellipse">
            <a:avLst/>
          </a:prstGeom>
          <a:solidFill>
            <a:srgbClr val="232F3E"/>
          </a:solidFill>
          <a:ln w="19050">
            <a:solidFill>
              <a:srgbClr val="F7F7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261872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5204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Computing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1148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43484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massive numbers of computers to handle large tasks.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383280" y="2331720"/>
            <a:ext cx="1005840" cy="100584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14" name="Image 1" descr="/home/claude/aws_deck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682" y="2573122"/>
            <a:ext cx="523037" cy="523037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096512" y="2240280"/>
            <a:ext cx="384048" cy="384048"/>
          </a:xfrm>
          <a:prstGeom prst="ellipse">
            <a:avLst/>
          </a:prstGeom>
          <a:solidFill>
            <a:srgbClr val="232F3E"/>
          </a:solidFill>
          <a:ln w="19050">
            <a:solidFill>
              <a:srgbClr val="F7F7F5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096512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3383280" y="35204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Mainframe &amp; Cluster Computing</a:t>
            </a:r>
            <a:endParaRPr lang="en-US" sz="1550" dirty="0"/>
          </a:p>
        </p:txBody>
      </p:sp>
      <p:sp>
        <p:nvSpPr>
          <p:cNvPr id="18" name="Text 14"/>
          <p:cNvSpPr txBox="1"/>
          <p:nvPr/>
        </p:nvSpPr>
        <p:spPr>
          <a:xfrm>
            <a:off x="3383280" y="416052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Transitioned to sharing single powerful servers among multiple systems to lower costs.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217920" y="2331720"/>
            <a:ext cx="1005840" cy="100584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20" name="Image 2" descr="/home/claude/aws_deck/icons/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322" y="2573122"/>
            <a:ext cx="523037" cy="523037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931152" y="2240280"/>
            <a:ext cx="384048" cy="384048"/>
          </a:xfrm>
          <a:prstGeom prst="ellipse">
            <a:avLst/>
          </a:prstGeom>
          <a:solidFill>
            <a:srgbClr val="232F3E"/>
          </a:solidFill>
          <a:ln w="19050">
            <a:solidFill>
              <a:srgbClr val="F7F7F5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931152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6217920" y="35204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Computing</a:t>
            </a:r>
            <a:endParaRPr lang="en-US" sz="1550" dirty="0"/>
          </a:p>
        </p:txBody>
      </p:sp>
      <p:sp>
        <p:nvSpPr>
          <p:cNvPr id="24" name="Text 19"/>
          <p:cNvSpPr txBox="1"/>
          <p:nvPr/>
        </p:nvSpPr>
        <p:spPr>
          <a:xfrm>
            <a:off x="6217920" y="416052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accessing servers across multiple geographical locations.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9052560" y="2331720"/>
            <a:ext cx="1005840" cy="100584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6" name="Image 3" descr="/home/claude/aws_deck/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3962" y="2573122"/>
            <a:ext cx="523037" cy="523037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9765792" y="2240280"/>
            <a:ext cx="384048" cy="384048"/>
          </a:xfrm>
          <a:prstGeom prst="ellipse">
            <a:avLst/>
          </a:prstGeom>
          <a:solidFill>
            <a:srgbClr val="232F3E"/>
          </a:solidFill>
          <a:ln w="19050">
            <a:solidFill>
              <a:srgbClr val="F7F7F5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9765792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9052560" y="35204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Virtualization</a:t>
            </a:r>
            <a:endParaRPr lang="en-US" sz="1550" dirty="0"/>
          </a:p>
        </p:txBody>
      </p:sp>
      <p:sp>
        <p:nvSpPr>
          <p:cNvPr id="30" name="Text 24"/>
          <p:cNvSpPr txBox="1"/>
          <p:nvPr/>
        </p:nvSpPr>
        <p:spPr>
          <a:xfrm>
            <a:off x="9052560" y="41148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TECHNOLOGY</a:t>
            </a:r>
            <a:endParaRPr lang="en-US" sz="1050" dirty="0"/>
          </a:p>
        </p:txBody>
      </p:sp>
      <p:sp>
        <p:nvSpPr>
          <p:cNvPr id="31" name="Text 25"/>
          <p:cNvSpPr txBox="1"/>
          <p:nvPr/>
        </p:nvSpPr>
        <p:spPr>
          <a:xfrm>
            <a:off x="9052560" y="443484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multiple virtual operating systems (VMs) on a single physical hardware server.</a:t>
            </a:r>
            <a:endParaRPr lang="en-US" sz="1250" dirty="0"/>
          </a:p>
        </p:txBody>
      </p:sp>
      <p:sp>
        <p:nvSpPr>
          <p:cNvPr id="32" name="Text 2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Fundamentals — Cloud Computing, EC2 &amp; S3 Basics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3 Core Cloud Service Models (SPI Model)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46177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2E4E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1874520"/>
            <a:ext cx="914400" cy="91440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6" name="Image 0" descr="/home/claude/aws_deck/icons/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6836" y="20939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9260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IaaS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3375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a Service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79476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GIVES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023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Networking, Storage, OS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70916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9377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Applications, Middleware, Runtime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22960" y="5532120"/>
            <a:ext cx="3063240" cy="0"/>
          </a:xfrm>
          <a:prstGeom prst="line">
            <a:avLst/>
          </a:prstGeom>
          <a:noFill/>
          <a:ln w="9525">
            <a:solidFill>
              <a:srgbClr val="5B6672"/>
            </a:solidFill>
            <a:prstDash val="sysDot"/>
          </a:ln>
        </p:spPr>
      </p:sp>
      <p:sp>
        <p:nvSpPr>
          <p:cNvPr id="14" name="Text 11"/>
          <p:cNvSpPr txBox="1"/>
          <p:nvPr/>
        </p:nvSpPr>
        <p:spPr>
          <a:xfrm>
            <a:off x="822960" y="56235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raw phone parts (motherboard, battery, screen) and assembling them yourself.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343400" y="1554480"/>
            <a:ext cx="3611880" cy="4617720"/>
          </a:xfrm>
          <a:prstGeom prst="roundRect">
            <a:avLst>
              <a:gd name="adj" fmla="val 2532"/>
            </a:avLst>
          </a:prstGeom>
          <a:solidFill>
            <a:srgbClr val="232F3E"/>
          </a:solidFill>
          <a:ln/>
          <a:effectLst>
            <a:outerShdw sx="100000" sy="100000" kx="0" ky="0" algn="bl" rotWithShape="0" blurRad="101600" dist="38100" dir="54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92140" y="1874520"/>
            <a:ext cx="914400" cy="91440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7" name="Image 1" descr="/home/claude/aws_deck/icons/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96" y="2093976"/>
            <a:ext cx="475488" cy="47548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343400" y="29260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PaaS</a:t>
            </a:r>
            <a:endParaRPr lang="en-US" sz="2400" dirty="0"/>
          </a:p>
        </p:txBody>
      </p:sp>
      <p:sp>
        <p:nvSpPr>
          <p:cNvPr id="19" name="Text 15"/>
          <p:cNvSpPr txBox="1"/>
          <p:nvPr/>
        </p:nvSpPr>
        <p:spPr>
          <a:xfrm>
            <a:off x="4343400" y="33375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as a Service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4617720" y="379476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GIVES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4617720" y="4023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+ fully assembled OS / platform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4617720" y="470916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4617720" y="49377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specific application code and data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617720" y="5532120"/>
            <a:ext cx="306324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ysDot"/>
          </a:ln>
        </p:spPr>
      </p:sp>
      <p:sp>
        <p:nvSpPr>
          <p:cNvPr id="25" name="Text 21"/>
          <p:cNvSpPr txBox="1"/>
          <p:nvPr/>
        </p:nvSpPr>
        <p:spPr>
          <a:xfrm>
            <a:off x="4617720" y="56235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an assembled phone where you only install your desired app.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8138160" y="1554480"/>
            <a:ext cx="3611880" cy="46177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2E4E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9486900" y="1874520"/>
            <a:ext cx="914400" cy="91440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28" name="Image 2" descr="/home/claude/aws_deck/icons/mob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6356" y="2093976"/>
            <a:ext cx="475488" cy="475488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138160" y="29260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</a:t>
            </a:r>
            <a:endParaRPr lang="en-US" sz="2400" dirty="0"/>
          </a:p>
        </p:txBody>
      </p:sp>
      <p:sp>
        <p:nvSpPr>
          <p:cNvPr id="30" name="Text 25"/>
          <p:cNvSpPr txBox="1"/>
          <p:nvPr/>
        </p:nvSpPr>
        <p:spPr>
          <a:xfrm>
            <a:off x="8138160" y="33375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as a Service</a:t>
            </a:r>
            <a:endParaRPr lang="en-US" sz="1150" dirty="0"/>
          </a:p>
        </p:txBody>
      </p:sp>
      <p:sp>
        <p:nvSpPr>
          <p:cNvPr id="31" name="Text 26"/>
          <p:cNvSpPr txBox="1"/>
          <p:nvPr/>
        </p:nvSpPr>
        <p:spPr>
          <a:xfrm>
            <a:off x="8412480" y="379476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GIVES</a:t>
            </a:r>
            <a:endParaRPr lang="en-US" sz="950" dirty="0"/>
          </a:p>
        </p:txBody>
      </p:sp>
      <p:sp>
        <p:nvSpPr>
          <p:cNvPr id="32" name="Text 27"/>
          <p:cNvSpPr txBox="1"/>
          <p:nvPr/>
        </p:nvSpPr>
        <p:spPr>
          <a:xfrm>
            <a:off x="8412480" y="4023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Complete, ready-to-use software / application</a:t>
            </a:r>
            <a:endParaRPr lang="en-US" sz="1150" dirty="0"/>
          </a:p>
        </p:txBody>
      </p:sp>
      <p:sp>
        <p:nvSpPr>
          <p:cNvPr id="33" name="Text 28"/>
          <p:cNvSpPr txBox="1"/>
          <p:nvPr/>
        </p:nvSpPr>
        <p:spPr>
          <a:xfrm>
            <a:off x="8412480" y="470916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</a:t>
            </a:r>
            <a:endParaRPr lang="en-US" sz="950" dirty="0"/>
          </a:p>
        </p:txBody>
      </p:sp>
      <p:sp>
        <p:nvSpPr>
          <p:cNvPr id="34" name="Text 29"/>
          <p:cNvSpPr txBox="1"/>
          <p:nvPr/>
        </p:nvSpPr>
        <p:spPr>
          <a:xfrm>
            <a:off x="8412480" y="49377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usage — no management required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8412480" y="5532120"/>
            <a:ext cx="3063240" cy="0"/>
          </a:xfrm>
          <a:prstGeom prst="line">
            <a:avLst/>
          </a:prstGeom>
          <a:noFill/>
          <a:ln w="9525">
            <a:solidFill>
              <a:srgbClr val="5B6672"/>
            </a:solidFill>
            <a:prstDash val="sysDot"/>
          </a:ln>
        </p:spPr>
      </p:sp>
      <p:sp>
        <p:nvSpPr>
          <p:cNvPr id="36" name="Text 31"/>
          <p:cNvSpPr txBox="1"/>
          <p:nvPr/>
        </p:nvSpPr>
        <p:spPr>
          <a:xfrm>
            <a:off x="8412480" y="56235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fully functional phone with pre-installed apps like YouTube, Netflix, and Chrome.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Fundamentals — Cloud Computing, EC2 &amp; S3 Basics</a:t>
            </a:r>
            <a:endParaRPr lang="en-US" sz="900" dirty="0"/>
          </a:p>
        </p:txBody>
      </p:sp>
      <p:sp>
        <p:nvSpPr>
          <p:cNvPr id="38" name="Text 3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Deployment Models — Public &amp; Private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4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868680" cy="86868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6" name="Image 0" descr="/home/claude/aws_deck/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" y="2128723"/>
            <a:ext cx="451714" cy="45171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0240" y="1920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Cloud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237744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 anyone via subscription plans (e.g., AWS, Azure, GCP).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920240" y="3017520"/>
            <a:ext cx="9052560" cy="0"/>
          </a:xfrm>
          <a:prstGeom prst="line">
            <a:avLst/>
          </a:prstGeom>
          <a:noFill/>
          <a:ln w="12700">
            <a:solidFill>
              <a:srgbClr val="E2E4E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920240" y="3154680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like: </a:t>
            </a:r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renting apartment space in a huge shared building — open to any tenant who signs up.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4206240"/>
            <a:ext cx="11064240" cy="2331720"/>
          </a:xfrm>
          <a:prstGeom prst="roundRect">
            <a:avLst>
              <a:gd name="adj" fmla="val 3922"/>
            </a:avLst>
          </a:prstGeom>
          <a:solidFill>
            <a:srgbClr val="232F3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4526280"/>
            <a:ext cx="868680" cy="86868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3" name="Image 1" descr="/home/claude/aws_deck/icons/hospi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" y="4734763"/>
            <a:ext cx="451714" cy="45171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920240" y="4526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Cloud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1920240" y="498348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used exclusively by a single business or organization — hosted at the company’s own data center or by a third-party provider.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920240" y="5669280"/>
            <a:ext cx="9052560" cy="0"/>
          </a:xfrm>
          <a:prstGeom prst="line">
            <a:avLst/>
          </a:prstGeom>
          <a:noFill/>
          <a:ln w="12700">
            <a:solidFill>
              <a:srgbClr val="3D4A5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920240" y="5806440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and healthcare providers — like a hospital network storing sensitive patient records on a secure, private internal cloud.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Fundamentals — Cloud Computing, EC2 &amp; S3 Basics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Models — Community, Hybrid &amp; Multi-Cloud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2E4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1920240"/>
            <a:ext cx="914400" cy="91440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6" name="Image 0" descr="/home/claude/aws_deck/icons/univers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6836" y="213969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9718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Cloud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5204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by several organizations from a community with common concerns (security, compliance, mission objectives). Managed by the organizations or a third party.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4937760"/>
            <a:ext cx="3063240" cy="0"/>
          </a:xfrm>
          <a:prstGeom prst="line">
            <a:avLst/>
          </a:prstGeom>
          <a:noFill/>
          <a:ln w="12700">
            <a:solidFill>
              <a:srgbClr val="E2E4E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50749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bodies or universities sharing a research cloud to collaborate under strict regulations.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43400" y="160020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2E4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92140" y="1920240"/>
            <a:ext cx="914400" cy="91440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13" name="Image 1" descr="/home/claude/aws_deck/icons/c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96" y="2139696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343400" y="29718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Cloud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35204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combination of public and private clouds bound together, allowing data and applications to be shared between them.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617720" y="4937760"/>
            <a:ext cx="3063240" cy="0"/>
          </a:xfrm>
          <a:prstGeom prst="line">
            <a:avLst/>
          </a:prstGeom>
          <a:noFill/>
          <a:ln w="12700">
            <a:solidFill>
              <a:srgbClr val="E2E4E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617720" y="50749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retailers (Amazon, Flipkart) keep payment data on a private cloud, run the public storefront on public cloud for traffic spikes.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38160" y="160020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2E4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486900" y="1920240"/>
            <a:ext cx="914400" cy="91440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20" name="Image 2" descr="/home/claude/aws_deck/icons/fil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6356" y="2139696"/>
            <a:ext cx="475488" cy="47548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138160" y="29718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Multi-Cloud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8412480" y="35204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multiple cloud vendors in a single architecture — combining services from different public cloud providers.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412480" y="4937760"/>
            <a:ext cx="3063240" cy="0"/>
          </a:xfrm>
          <a:prstGeom prst="line">
            <a:avLst/>
          </a:prstGeom>
          <a:noFill/>
          <a:ln w="12700">
            <a:solidFill>
              <a:srgbClr val="E2E4E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412480" y="50749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uses AWS for streaming, Google Cloud for analytics, and Azure for enterprise integration to avoid vendor lock-in.</a:t>
            </a:r>
            <a:endParaRPr lang="en-US" sz="1150" dirty="0"/>
          </a:p>
        </p:txBody>
      </p:sp>
      <p:sp>
        <p:nvSpPr>
          <p:cNvPr id="25" name="Text 20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Fundamentals — Cloud Computing, EC2 &amp; S3 Basics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Web Services (AWS) Overview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is the leading cloud provider globally. It provides over 200 fully featured services spanning compute, storage, databases, networking, and more.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232F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3774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~34%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CLOUD MARKET SHARE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219456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232F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51960" y="23774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200+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3200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FEATURED SERVICES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92440" y="21945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4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2514600"/>
            <a:ext cx="640080" cy="64008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3" name="Image 0" descr="/home/claude/aws_deck/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4659" y="2668219"/>
            <a:ext cx="332842" cy="33284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9098280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Infrastructure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098280" y="28163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Regions: geographic areas worldwide (e.g., Mumbai, Hyderabad, N. Virginia).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098280" y="32186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Zones (AZs): isolated data centers within a region for fault tolerance &amp; high availability.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REGIONS &amp; AVAILABILITY ZONES FIT TOGETHER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4389120"/>
            <a:ext cx="67665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232F3E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777240" y="45262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— e.g. Mumbai (ap-south-1)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8348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232F3E"/>
          </a:solidFill>
          <a:ln/>
        </p:spPr>
      </p:sp>
      <p:sp>
        <p:nvSpPr>
          <p:cNvPr id="21" name="Shape 18"/>
          <p:cNvSpPr/>
          <p:nvPr/>
        </p:nvSpPr>
        <p:spPr>
          <a:xfrm>
            <a:off x="1399032" y="5120640"/>
            <a:ext cx="585216" cy="585216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2" name="Image 1" descr="/home/claude/aws_deck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484" y="5261092"/>
            <a:ext cx="304312" cy="3043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22960" y="5806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1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2743200" y="498348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232F3E"/>
          </a:solidFill>
          <a:ln/>
        </p:spPr>
      </p:sp>
      <p:sp>
        <p:nvSpPr>
          <p:cNvPr id="25" name="Shape 21"/>
          <p:cNvSpPr/>
          <p:nvPr/>
        </p:nvSpPr>
        <p:spPr>
          <a:xfrm>
            <a:off x="3319272" y="5120640"/>
            <a:ext cx="585216" cy="585216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6" name="Image 2" descr="/home/claude/aws_deck/icon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724" y="5261092"/>
            <a:ext cx="304312" cy="30431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2743200" y="5806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2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663440" y="498348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232F3E"/>
          </a:solidFill>
          <a:ln/>
        </p:spPr>
      </p:sp>
      <p:sp>
        <p:nvSpPr>
          <p:cNvPr id="29" name="Shape 24"/>
          <p:cNvSpPr/>
          <p:nvPr/>
        </p:nvSpPr>
        <p:spPr>
          <a:xfrm>
            <a:off x="5239512" y="5120640"/>
            <a:ext cx="585216" cy="585216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30" name="Image 3" descr="/home/claude/aws_deck/icons/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9964" y="5261092"/>
            <a:ext cx="304312" cy="304312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4663440" y="5806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3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7589520" y="438912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232F3E"/>
          </a:solidFill>
          <a:ln/>
        </p:spPr>
      </p:sp>
      <p:sp>
        <p:nvSpPr>
          <p:cNvPr id="33" name="Shape 27"/>
          <p:cNvSpPr/>
          <p:nvPr/>
        </p:nvSpPr>
        <p:spPr>
          <a:xfrm>
            <a:off x="7818120" y="461772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34" name="Image 4" descr="/home/claude/aws_deck/icons/p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9794" y="4749394"/>
            <a:ext cx="285293" cy="285293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7818120" y="530352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Region contains multiple isolated Availability Zones, so an outage in one AZ doesn’t take down the whole application.</a:t>
            </a:r>
            <a:endParaRPr lang="en-US" sz="1150" dirty="0"/>
          </a:p>
        </p:txBody>
      </p:sp>
      <p:sp>
        <p:nvSpPr>
          <p:cNvPr id="36" name="Text 29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Fundamentals — Cloud Computing, EC2 &amp; S3 Basics</a:t>
            </a:r>
            <a:endParaRPr lang="en-US" sz="900" dirty="0"/>
          </a:p>
        </p:txBody>
      </p:sp>
      <p:sp>
        <p:nvSpPr>
          <p:cNvPr id="37" name="Text 30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Cloud Computing &amp; AWS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6" name="Image 0" descr="/home/claude/aws_deck/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94950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1051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= on-demand, pay-as-you-go IT resources (no need to own the "hardware").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31520" y="260604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9" name="Image 1" descr="/home/claude/aws_deck/icons/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21" y="272674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258775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Evolution: Distributed → Mainframe/Cluster → Grid → Virtualization.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731520" y="338328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2" name="Image 2" descr="/home/claude/aws_deck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350398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336499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Model: IaaS (raw infrastructure), PaaS (platform), SaaS (ready software).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731520" y="416052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5" name="Image 3" descr="/home/claude/aws_deck/icons/box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1" y="4281221"/>
            <a:ext cx="261518" cy="26151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63040" y="414223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models: Public, Private, Community, Hybrid, and Multi-Cloud.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731520" y="493776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8" name="Image 4" descr="/home/claude/aws_deck/icons/glob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1" y="5058461"/>
            <a:ext cx="261518" cy="26151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63040" y="49194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~34% market share, 200+ services, built on Regions and Availability Zones worldwide.</a:t>
            </a:r>
            <a:endParaRPr lang="en-US" sz="1450" dirty="0"/>
          </a:p>
        </p:txBody>
      </p:sp>
      <p:sp>
        <p:nvSpPr>
          <p:cNvPr id="20" name="Shape 13"/>
          <p:cNvSpPr/>
          <p:nvPr/>
        </p:nvSpPr>
        <p:spPr>
          <a:xfrm>
            <a:off x="731520" y="6172200"/>
            <a:ext cx="1280160" cy="0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Let’s discuss — thank you!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2026-09-25T12:40:09Z</dcterms:created>
  <dcterms:modified xsi:type="dcterms:W3CDTF">2026-09-25T12:40:09Z</dcterms:modified>
</cp:coreProperties>
</file>